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c12dac3d7e4933" /><Relationship Type="http://schemas.openxmlformats.org/officeDocument/2006/relationships/extended-properties" Target="/docProps/app.xml" Id="R06d98a25691541ba" /><Relationship Type="http://schemas.openxmlformats.org/officeDocument/2006/relationships/officeDocument" Target="/ppt/presentation.xml" Id="Rfbf1dbb58ab14c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cd939022a64c62"/>
  </p:sldMasterIdLst>
  <p:notesMasterIdLst>
    <p:notesMasterId xmlns:r="http://schemas.openxmlformats.org/officeDocument/2006/relationships" r:id="R3a6cd568d18a4c15"/>
  </p:notesMasterIdLst>
  <p:sldIdLst>
    <p:sldId xmlns:r="http://schemas.openxmlformats.org/officeDocument/2006/relationships" id="256" r:id="R6181a127c3194928"/>
    <p:sldId xmlns:r="http://schemas.openxmlformats.org/officeDocument/2006/relationships" id="257" r:id="R8fcb8abc0d8f4407"/>
    <p:sldId xmlns:r="http://schemas.openxmlformats.org/officeDocument/2006/relationships" id="258" r:id="R169db498a16f4428"/>
    <p:sldId xmlns:r="http://schemas.openxmlformats.org/officeDocument/2006/relationships" id="259" r:id="R4c902c55e5cb43e1"/>
    <p:sldId xmlns:r="http://schemas.openxmlformats.org/officeDocument/2006/relationships" id="260" r:id="R1cf06e718d78457f"/>
    <p:sldId xmlns:r="http://schemas.openxmlformats.org/officeDocument/2006/relationships" id="261" r:id="Rb69b6695da444638"/>
    <p:sldId xmlns:r="http://schemas.openxmlformats.org/officeDocument/2006/relationships" id="262" r:id="R52ce63388bcc42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df94ff071b43cc" /><Relationship Type="http://schemas.openxmlformats.org/officeDocument/2006/relationships/slideMaster" Target="/ppt/slideMasters/slideMaster1.xml" Id="R67cd939022a64c62" /><Relationship Type="http://schemas.openxmlformats.org/officeDocument/2006/relationships/notesMaster" Target="/ppt/notesMasters/notesMaster1.xml" Id="R3a6cd568d18a4c15" /><Relationship Type="http://schemas.openxmlformats.org/officeDocument/2006/relationships/presProps" Target="/ppt/presProps.xml" Id="R02df306f354b40a3" /><Relationship Type="http://schemas.openxmlformats.org/officeDocument/2006/relationships/viewProps" Target="/ppt/viewProps.xml" Id="Rdf22f20fcfd74bb8" /><Relationship Type="http://schemas.openxmlformats.org/officeDocument/2006/relationships/tableStyles" Target="/ppt/tableStyles.xml" Id="R37769dcb7e86466b" /><Relationship Type="http://schemas.openxmlformats.org/officeDocument/2006/relationships/slide" Target="/ppt/slides/slide1.xml" Id="R6181a127c3194928" /><Relationship Type="http://schemas.openxmlformats.org/officeDocument/2006/relationships/slide" Target="/ppt/slides/slide2.xml" Id="R8fcb8abc0d8f4407" /><Relationship Type="http://schemas.openxmlformats.org/officeDocument/2006/relationships/slide" Target="/ppt/slides/slide3.xml" Id="R169db498a16f4428" /><Relationship Type="http://schemas.openxmlformats.org/officeDocument/2006/relationships/slide" Target="/ppt/slides/slide4.xml" Id="R4c902c55e5cb43e1" /><Relationship Type="http://schemas.openxmlformats.org/officeDocument/2006/relationships/slide" Target="/ppt/slides/slide5.xml" Id="R1cf06e718d78457f" /><Relationship Type="http://schemas.openxmlformats.org/officeDocument/2006/relationships/slide" Target="/ppt/slides/slide6.xml" Id="Rb69b6695da444638" /><Relationship Type="http://schemas.openxmlformats.org/officeDocument/2006/relationships/slide" Target="/ppt/slides/slide7.xml" Id="R52ce63388bcc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aacdeb99a041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6ce548a9fc402c" /><Relationship Type="http://schemas.openxmlformats.org/officeDocument/2006/relationships/notesMaster" Target="/ppt/notesMasters/notesMaster1.xml" Id="Ra11bedd80064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6390ddf6f8408b" /><Relationship Type="http://schemas.openxmlformats.org/officeDocument/2006/relationships/notesMaster" Target="/ppt/notesMasters/notesMaster1.xml" Id="R4d8ba153b8d241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ea1b0c97db404f" /><Relationship Type="http://schemas.openxmlformats.org/officeDocument/2006/relationships/notesMaster" Target="/ppt/notesMasters/notesMaster1.xml" Id="R44ce3c107f3144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a9bab43b774e34" /><Relationship Type="http://schemas.openxmlformats.org/officeDocument/2006/relationships/notesMaster" Target="/ppt/notesMasters/notesMaster1.xml" Id="Rb6a01cf1d5fa44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e95eee298b414e" /><Relationship Type="http://schemas.openxmlformats.org/officeDocument/2006/relationships/notesMaster" Target="/ppt/notesMasters/notesMaster1.xml" Id="Rb3047c854b234a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eb0765b0484c97" /><Relationship Type="http://schemas.openxmlformats.org/officeDocument/2006/relationships/notesMaster" Target="/ppt/notesMasters/notesMaster1.xml" Id="Ra9491e7ecb664c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f616def51b48cd" /><Relationship Type="http://schemas.openxmlformats.org/officeDocument/2006/relationships/notesMaster" Target="/ppt/notesMasters/notesMaster1.xml" Id="R76aca0b5ea4e48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23d2674eb48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a91190d4a46ea" /><Relationship Type="http://schemas.openxmlformats.org/officeDocument/2006/relationships/slideLayout" Target="/ppt/slideLayouts/slideLayout1.xml" Id="R1810813e349440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10813e349440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62deffaed4eef" /><Relationship Type="http://schemas.openxmlformats.org/officeDocument/2006/relationships/notesSlide" Target="/ppt/notesSlides/notesSlide1.xml" Id="R68272e1b351a48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2fa2f742d48f8" /><Relationship Type="http://schemas.openxmlformats.org/officeDocument/2006/relationships/notesSlide" Target="/ppt/notesSlides/notesSlide2.xml" Id="Rd3d7b702252b46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6957a3509433f" /><Relationship Type="http://schemas.openxmlformats.org/officeDocument/2006/relationships/notesSlide" Target="/ppt/notesSlides/notesSlide3.xml" Id="Rf66961ee2be94e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d6d0567ba4eaf" /><Relationship Type="http://schemas.openxmlformats.org/officeDocument/2006/relationships/notesSlide" Target="/ppt/notesSlides/notesSlide4.xml" Id="R97befeb9feb943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2c392b3124d29" /><Relationship Type="http://schemas.openxmlformats.org/officeDocument/2006/relationships/notesSlide" Target="/ppt/notesSlides/notesSlide5.xml" Id="R7338d40882534d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73275388f4f19" /><Relationship Type="http://schemas.openxmlformats.org/officeDocument/2006/relationships/notesSlide" Target="/ppt/notesSlides/notesSlide6.xml" Id="Rf30f267780ef46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28fe048a14b39" /><Relationship Type="http://schemas.openxmlformats.org/officeDocument/2006/relationships/notesSlide" Target="/ppt/notesSlides/notesSlide7.xml" Id="R60ec62920a8343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CE34E9-A51C-47FA-B21C-004C8076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50553-8E76-4CCE-82D5-FCB745D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EA2C4-C0DC-4938-98A7-D6C90195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5DADF-2702-4345-AEC0-691A8C43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4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City of Philadelphia / Department of Aviation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47B9E-91C1-4192-A4C8-5F5C1EF8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C311D-6493-4AB9-B892-745BAA9D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EXECUTIVE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716DA-3CA0-4879-9A4A-488CAF76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dashboard is a Commercial BI operating model, not a static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7854F-09E7-4BEE-802F-FF2246A9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It shows how public airport evidence can be converted into data requests, owner accountability, source-quality controls, and leadership decisions for PHL and PNE.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14EC7-7B7C-4C77-9048-DFA681E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Public-source prototype. Internal lease, feed, and model details require approved authoritative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C7CCD-4326-4297-80E6-20EAE1EC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43E5A-4936-4088-8DFA-E7BEB28E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372C2-408E-4ABC-823D-853CA8C8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F82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524B8-14FD-4647-B32A-4BDEA86F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PHL + PNE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7FB1C-5BF5-45F4-BC5D-117C972A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Commercial-service and reliever-airport lenses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A2C81-5BD4-48EF-95AF-5451EF9E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28900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952AF-DC25-4702-BE5D-B9220E68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F82"/>
                </a:solidFill>
                <a:latin typeface="Aptos"/>
                <a:ea typeface="Aptos"/>
                <a:cs typeface="Aptos"/>
              </a:rPr>
              <a:t>PUBLIC 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F4750-4F66-4A71-85C1-9709B349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80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805A"/>
                </a:solidFill>
                <a:latin typeface="Aptos"/>
                <a:ea typeface="Aptos"/>
                <a:cs typeface="Aptos"/>
              </a:rPr>
              <a:t>Cited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B2C39-6246-4611-9ABC-F54603DC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14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PHL/PNE, City, FAA, BTS anchors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B3D11-74E2-48FD-B937-3B542CBC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28900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1AA6B-1A8E-4FC9-A43C-5196AFB8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F82"/>
                </a:solidFill>
                <a:latin typeface="Aptos"/>
                <a:ea typeface="Aptos"/>
                <a:cs typeface="Aptos"/>
              </a:rPr>
              <a:t>INTERNAL FEEDS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C65A5-A5C6-4D1C-B090-6A963AA8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65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76500"/>
                </a:solidFill>
                <a:latin typeface="Aptos"/>
                <a:ea typeface="Aptos"/>
                <a:cs typeface="Aptos"/>
              </a:rPr>
              <a:t>Mapped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4494F-4092-42BE-ABAE-35325DE2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14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Parking through PNE assets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70DB9-6D43-4384-A0E6-FE4E18A5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1FE05-E56F-4C70-8E74-8A02036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F82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5516C2-9843-42D8-AFAA-3FADAFDB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Scored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6F5AE-B774-4EA1-BAA0-AEE4630B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Owner, cadence, quality, escalation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46812-9634-44D5-8C29-30A59702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1432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8BE97B-86F7-4FDB-B04A-3100374F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3A040-ACAA-4FF5-B2CD-F3BD0161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Interview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AA24E4-5233-4DB8-A1DE-E122B556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2819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The artifact demonstrates commercial portfolio literacy, civic-source discipline, BI design, data-governance thinking, and an executive decision cadence.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3CEC9B-18D8-41C3-B524-887AB99E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534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CC1A36-599D-4DB7-86B3-F9F5079D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38869F-F8CD-40C2-B56C-6D6540BC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21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Operating thesis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AC5AAE-C5D6-47FE-BAE1-FB44D3BC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021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A useful airport commercial dashboard does three things at once: it respects public-source limits, asks for the right internal records, and makes accountable decisions visible before automation is trusted.</a:t>
            </a:r>
          </a:p>
        </p:txBody>
      </p:sp>
    </p:spTree>
    <p:extLst>
      <p:ext uri="{BB962C8B-B14F-4D97-AF65-F5344CB8AC3E}">
        <p14:creationId xmlns:p14="http://schemas.microsoft.com/office/powerpoint/2010/main" val="9883950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651416-4EA1-45D8-A59B-1A9C5D79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CA422-4817-49FF-90F1-E33E6B70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C7445-9935-419F-96F1-82A11FAA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3CDD3-AE97-4692-9EF5-F4A93EB5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4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City of Philadelphia / Department of Aviation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406AE-C7C2-40D9-93B7-B041CB64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E67B9-A63E-4C2A-A196-A9771AC8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EVIDENCE CHAIN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6705F-1588-4EE3-A8A0-9542C069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Public facts become executive decisions only after the internal data request is explicit.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5D0EC-B778-4E71-9EE8-630F88BF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The dashboard links each public observation to a commercial question, an internal record request, a reporting artifact, and a decision supported.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68C1E-BB3D-4B59-879F-41D5EB87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Public-source prototype. Internal lease, feed, and model details require approved authoritative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12939-60FC-460E-9300-3EA86D41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F529B-E8F5-4B47-8D08-7B537B80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0A37A-1BC2-4B5A-AA9B-4D678B47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Public fact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1B7E0-CDB8-48BF-A262-5FDEAED6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19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0895E-839D-4A1C-A949-EF4AC46A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E61AA-C731-41D3-8D9A-53F8CA6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Trend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E4C97-E5AC-4562-85DE-46BBDB5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2AB2D-877A-44BE-93F8-D5371C72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142CD-6BBA-4217-9EC8-8193A662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480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Internal data needed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42C5C-3B67-4AAA-890A-A14918F8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BE887-F5BE-4F84-8274-4EBE5A5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7655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220C0-5FF7-4186-A01C-E920F092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BI artifact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49747-CDEC-4302-85A0-4063CFA0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19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31E53-6410-4EBB-BE8F-FB7FB86F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4927E-A412-4EE9-BDF7-7069DEC4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4575B-FA19-41D2-8C71-50DF2873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6FD70-6CF9-4B06-B4B7-DD55333A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A739E9-465B-4142-945C-3ABDD5D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PHL example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51E76F-2360-41E4-84AD-F146D397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30M+ 2025 passengers, 126 gates, 16,126 parking spaces, and cargo/carrier/destination context become revenue-per-passenger, concessions coverage, parking yield, and schedule-utilization questions.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837855-BAC6-4493-9375-249FDF8C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8145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C5FCDB-E441-4D26-A411-F3891334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814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A7F3B9-745C-4673-A648-B68B0C9E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338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PNE example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D2A527-4215-419A-8E14-0FE497EB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Public PNE facts establish a reliever-airport asset lens, but conflicting acreage and based-aircraft figures become a data-governance reconciliation task.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58A77A-293E-4258-9185-DDD79308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8145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C50527-F778-4201-A48B-C446D624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814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70FBED-0B84-4E17-A6BE-3D474784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338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Decision implication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7462EB-B97E-4595-A431-3C5A5C2E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9580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The dashboard should not claim private operational truth; it should show what evidence supports, what data is missing, and who must own the next record.</a:t>
            </a:r>
          </a:p>
        </p:txBody>
      </p:sp>
    </p:spTree>
    <p:extLst>
      <p:ext uri="{BB962C8B-B14F-4D97-AF65-F5344CB8AC3E}">
        <p14:creationId xmlns:p14="http://schemas.microsoft.com/office/powerpoint/2010/main" val="11278424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6325D9-5E27-4A1C-82A9-47A6632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B0CB1-4912-48EE-B7C7-B6CA2331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9A19B-4808-40D6-856A-D529F728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8817C-7B94-4680-95E9-47004806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4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City of Philadelphia / Department of Aviation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88396-616F-476E-947D-AEFE18AF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C1B0F-737C-4266-9769-5ED4E16A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AGREEMENT 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A2196-F885-48F7-9CDF-D516CAE3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Public contract pages can seed discovery, but they are not the authoritative lease register.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D919B-8A69-4F90-954F-94577137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The revised dashboard replaces illustrative lease values with a public agreement-access register and makes the internal record request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FCB6D-86DB-4120-A599-84E69A03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Public-source prototype. Internal lease, feed, and model details require approved authoritative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6D434-978A-44E8-A5EA-AECD9C0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1D4F1-359E-4843-BF40-84417CF0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048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8F3ED-866A-420E-9CC4-BD92F914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CF8B8-5075-407F-B263-CCA755D6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Public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D2263-46BE-4E91-BC1D-36FC1531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724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City contract data, professional-services categories, commodities guidance, concession-agreement references, and PHL Contracting Opportunities provide discovery signals and routing.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6E763-C2FA-476B-B1B0-599CB99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3048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3FDFF-AC53-456D-AAFF-42C26D5D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A8295-0F6B-4AAE-9461-7EC39F50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Internal authority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C7256-3020-47C0-A2C1-164F2F30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2724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Lease economics, amendments, tenant terms, renewal options, compliance history, and performance records still need approved internal systems.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E2F51-66AD-41AA-ADA2-206D3302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3048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BC3E7-2DB0-47E2-983C-C5F35EF7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2CA61-D37A-40FC-B405-6C2BF751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Dashboard behavior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F43D5-4894-49A7-AC96-46FE3A94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90850"/>
            <a:ext cx="2724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Each agreement-access row shows public basis, managing unit, completeness, internal record needed, and recommended action rather than unsupported values.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F822E-E871-41EF-815B-4D420DD5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958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80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D03FB3-E2D7-4B71-80BF-07D2FA8C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B21E4-81EE-468A-B9DD-F6DF3266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625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805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805A"/>
                </a:solidFill>
                <a:latin typeface="Aptos"/>
                <a:ea typeface="Aptos"/>
                <a:cs typeface="Aptos"/>
              </a:rPr>
              <a:t>Public Source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0EFD7-947C-4D2E-9499-76EDA8B1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958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E247D8-AA93-4D15-A7E3-28547D3C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7DFDB-DFB6-4BC7-BE64-CE668A2B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625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Access Needed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C06C44-60F8-491E-8FC9-B00C987D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958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4D9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CFDFBB-AF32-445B-A611-7B8A818C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B3A19-30D5-4537-8BDB-525E6BBC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625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Action Ready</a:t>
            </a:r>
          </a:p>
        </p:txBody>
      </p:sp>
    </p:spTree>
    <p:extLst>
      <p:ext uri="{BB962C8B-B14F-4D97-AF65-F5344CB8AC3E}">
        <p14:creationId xmlns:p14="http://schemas.microsoft.com/office/powerpoint/2010/main" val="4514738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D66400-F0B2-4725-BF04-17E4E6A1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79ED2-96D4-43FB-B323-201026CE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DAF25-36FA-4BAD-B96B-8B005903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0798D-A93D-45D2-9623-17A1201F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4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City of Philadelphia / Department of Aviation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7DEB3-9647-453E-92CD-986E11D8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62894-8814-4EB2-B4B4-08BC405C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FEED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1CF5E-F5F8-47F9-9737-E443D824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production dashboard should connect feeds by owner, cadence, quality gate, and executive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21D9D-6C28-442F-AA4C-1EAD42EF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The prototype maps the first commercial feeds that would need ETL or data-warehouse partnership before live decisions are automated.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BFAFE-35A1-469C-AEB0-01640D99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Public-source prototype. Internal lease, feed, and model details require approved authoritative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3B708-A1E3-4196-99D3-85ED102D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8BC9B-1BF8-44BC-A781-17A4EA97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47942-627C-4B85-AB4C-B86CA98B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938C1-C907-4AEA-856A-E34E63C5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Parking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4FACF-5D0A-463B-B56B-675DA094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Target cadence: Daily</a:t>
            </a:r>
          </a:p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Quality gate: reconcile to owner-approved control total before executive scoring.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2D5E9-74AF-4419-8322-67B4BC32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1460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5DF7A-A834-4A67-B037-73F90625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146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5BE03-A7A6-4503-BF5B-4F05F5DF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Concessions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9A501-6993-4FF7-9BED-03F0B95D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Target cadence: Monthly</a:t>
            </a:r>
          </a:p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Quality gate: reconcile to owner-approved control total before executive scoring.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94B0A-2BD8-40BD-B4E1-1F6F313C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E5DFC-EAE0-4DDE-8275-08DA6151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83B13-AA4E-45D2-9386-D6264D34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Ground transport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E45C8-3654-4060-80F2-E1BBEDCC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Target cadence: Daily / weekly</a:t>
            </a:r>
          </a:p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Quality gate: reconcile to owner-approved control total before executive scoring.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DDB5F-7670-4CF0-9BB3-244081BE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51512-387D-41D0-8151-5D736BF5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41246-00F8-47B3-8229-05B803C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Cargo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6D3D3-50DC-4397-BF37-C47B756F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Target cadence: Monthly</a:t>
            </a:r>
          </a:p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Quality gate: reconcile to owner-approved control total before executive scoring.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FF8FF-C50C-4827-AEED-44BDB8C8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7670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702383-A30B-4C2C-9E19-1E80EE59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767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5BE0B6-AB62-4508-978C-DE60B0AC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91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Gates + schedules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70D599-87A1-47A3-92F5-C98AB2CB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9105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Target cadence: Daily / seasonal</a:t>
            </a:r>
          </a:p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Quality gate: reconcile to owner-approved control total before executive scoring.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5A3E3B-D4EA-41E8-A611-BD6A2A4F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7670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D749A3-36B5-43F2-B167-C016BE7F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767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D18C5C-DFF4-4D90-900A-F807D4C5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291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PNE assets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D66F3F-37A6-4E2A-A222-4F506D53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9105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Target cadence: Monthly</a:t>
            </a:r>
          </a:p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Quality gate: reconcile to owner-approved control total before executive scoring.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ED3036-ACE8-4C58-B1B3-855569D3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Connection rule: no feed becomes a decision metric until owner, cadence, field dictionary, reconciliation total, and escalation path are visible.</a:t>
            </a:r>
          </a:p>
        </p:txBody>
      </p:sp>
    </p:spTree>
    <p:extLst>
      <p:ext uri="{BB962C8B-B14F-4D97-AF65-F5344CB8AC3E}">
        <p14:creationId xmlns:p14="http://schemas.microsoft.com/office/powerpoint/2010/main" val="7028817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A7F80-9B4E-43A3-8D21-4C4098B4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BBD95-F01A-4560-98E0-EB75D830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784CA-80A2-4A1D-AC21-2D28E591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778B2-E211-4302-9910-C3A0CDB6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4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City of Philadelphia / Department of Aviation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F420B-6CF4-4DDC-814F-B97EB5E6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A0DD2-F2C4-4D36-B568-41930955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SOURCE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2152A-0716-4BCF-895D-BD22A715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governance workflow needs a score, an owner, a control, and an escalation 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1F72-7E97-422B-8EB2-A7E536A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The dashboard's scorecard makes source trust inspectable rather than implied.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C4400-88F1-46EF-BD8B-4227DACF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Public-source prototype. Internal lease, feed, and model details require approved authoritative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53333-5903-4D82-BCD8-DECC93E9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E96BF-CF78-438F-B001-B1AC2FC1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429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30E7F-E978-4A54-9631-69B3B5AE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C8F6E-59FC-4828-8E6C-88E31F75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Scoring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36911-50A9-452B-AF01-498476E1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1051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Overall score combines completeness, freshness, lineage, and stewardship. Scores are illustrative until owners approve production validation rules.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9342D-00B5-46C4-B602-A2BC75F6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Public 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BDB10-1B8C-4576-A07F-58E8B7E7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7652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D4560-81C3-4368-90E3-7BB7C143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76525"/>
            <a:ext cx="20802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BE29C-937C-4BD8-BC76-124A97D4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479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84/100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8DBF4-204A-4720-99AE-A63E19C2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Contract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08EE1-BD03-4FCD-8826-6C8BCDC1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4802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192E2-7DBB-4B6C-B377-FC8BC03B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48025"/>
            <a:ext cx="163449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E267E-E299-4599-9420-695295C0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194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66/100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712C5-1790-438F-9D14-51866BE8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09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PHL feeds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5D570-E44B-4B93-86F5-6A565AE0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1952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8E38B-B864-46A3-9535-161ABF97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19525"/>
            <a:ext cx="12630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46F4D-A085-405D-8F23-CC3CAD64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909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51/100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CD946-C61C-40A9-9B98-FB6FF199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624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PNE register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CA058D-89EC-4F73-AECA-B0DEAD5D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9102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E015CB-D864-43A5-A7DE-C3BE2AF6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91025"/>
            <a:ext cx="113919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99585-FF85-4C88-83C6-5F1A1AF5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624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46/100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7B79DF-9B9D-4F11-9E7C-273629B8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2000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35B567-709E-4FBC-B442-10C187FD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571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C9344B-F56F-4B77-BC70-47A6D156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384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Escalation logic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A44656-CCFF-434D-BD96-D7CF9403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1676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If an owner, renewal date, reconciliation total, or agreement ID is missing, the metric moves from dashboard display into an action queue before executive decisions rely on it.</a:t>
            </a:r>
          </a:p>
        </p:txBody>
      </p:sp>
    </p:spTree>
    <p:extLst>
      <p:ext uri="{BB962C8B-B14F-4D97-AF65-F5344CB8AC3E}">
        <p14:creationId xmlns:p14="http://schemas.microsoft.com/office/powerpoint/2010/main" val="3692726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20CA56-15FF-4467-8A42-44BAC8CB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B1E2E-2E00-4F84-ADBD-55F7E75F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186F2-A929-449E-BBD7-1C2B0A6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CDFC0-6910-4F6B-8D57-E4AD08E4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4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City of Philadelphia / Department of Aviation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A515B-EAB8-4CDB-88E2-81167880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CFBB1-EC69-4FFB-AB55-7E923DB0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LEADERSHIP DRILLDOWNS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4E899-3176-4BB8-8109-4067A669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PHL and PNE need different executive lenses on the same Commercial BI backbone.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B9548-7A32-4F44-A85F-C84D6E36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The dashboard separates passenger-scale revenue decisions from reliever-airport asset governance while keeping filters, sources, and report exports consistent.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9C0CE-C6B8-4CCC-8F4A-FA8B2986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Public-source prototype. Internal lease, feed, and model details require approved authoritative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8229B-8CFD-4EF4-B3A6-3AA15051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FA707-AEEB-4CC8-A8A4-84F7D0D3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7625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BA8A9-97D1-4D3D-BF72-3CE6DB8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FFA75-DBF9-432A-A4B1-002711C1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PHL leadership lens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90911-B34A-4FA9-BFDE-893B676C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Passenger-scale commercial portfolio: parking, ground transportation, concessions, advertising, cargo, gates, schedules, and terminal leases.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541D5-6A75-407B-91A3-4F95EA54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A68E0-5192-4BE3-B35B-741EDAB1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Pick first production ETL candidate by value and owner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74803-0559-4D14-9A2F-75F471EB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D74E2-74A1-4C1D-A5D7-0FAD10EC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Tie schedule/gate activity to terminal commercial coverage.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9A5EC-08E4-40A2-BF6F-3AD5FB23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BA6E4-9D1B-42AE-9FDA-E7A07E40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Use source-quality scoring before renewal or revenue decisions.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4E15E-CC3B-49F6-B2C6-9F7D5C69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47625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1D808-290A-4C1E-B36F-220611A8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E4BDA0-B271-4C56-9626-8D1D5FC7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PNE leadership lens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C6D0D1-C5A5-4DD2-B47A-3AAA4CE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Reliever-airport asset portfolio: based aircraft, hangars, ground leases, development parcels, capital projects, and tenant relationships.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C03F8-A5B0-4A72-A2EC-9E3E7F93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76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0997D-A70B-47EB-BBA3-3AC86AE4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290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Build a PNE asset register independent of PHL passenger metrics.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6C2936-9300-4675-B31D-88A544E7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52AD7-2205-41D3-8C29-0A1E14C7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910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Reconcile public PNE facts before external-facing reports.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D4597A-3AD2-4FC9-845D-9FF80A6F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469305-AF88-4C2D-B369-EBD0371D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529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Assign stewardship for tenant, hangar, parcel, and waitlist metadata.</a:t>
            </a:r>
          </a:p>
        </p:txBody>
      </p:sp>
    </p:spTree>
    <p:extLst>
      <p:ext uri="{BB962C8B-B14F-4D97-AF65-F5344CB8AC3E}">
        <p14:creationId xmlns:p14="http://schemas.microsoft.com/office/powerpoint/2010/main" val="8345979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E454FF-3AE5-439D-8659-CBA46490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47095-3ED2-4858-AAD6-7ADCD5CC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11DA9-877E-4D02-990A-D51976B6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AE1C4-29D2-4487-8C7A-771030F0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4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City of Philadelphia / Department of Aviation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51DC0-9CCA-496D-AE39-1DC55D8C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6EB65-DC0F-4217-9EAD-999B703F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FIRST 90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C7F63-7AE4-40B4-BC4D-B999CC2D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Build trust in the data before automating the decision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ED243-626E-40F4-8047-57F2BEDE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The roadmap is designed to inventory sources, assign ownership, define quality gates, prototype reporting, and then add predictive assistance only after source controls are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FA85C-AE15-4F16-9808-464A41BE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Public-source prototype. Internal lease, feed, and model details require approved authoritative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CB09D-C712-4783-9B78-4E28314A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65ACA-C82A-4564-BDF0-9C4C3CB5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93F89-CA58-462C-B038-45E3334F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Days 1-15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F540E-76B4-48D2-83D8-3BFD5BD1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Inventory commercial data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71B26-2684-443F-AFF6-E7D909B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81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C6120-A74C-42C7-B7B5-673F8AA9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429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65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6500"/>
                </a:solidFill>
                <a:latin typeface="Aptos"/>
                <a:ea typeface="Aptos"/>
                <a:cs typeface="Aptos"/>
              </a:rPr>
              <a:t>Days 16-30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D895B-001A-4FE0-AD77-74D3BE1A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957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Build agreement taxonomy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DDD73-C338-4033-B767-C10C62AB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81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D7998-23EE-412B-987A-0351CD33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29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80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805A"/>
                </a:solidFill>
                <a:latin typeface="Aptos"/>
                <a:ea typeface="Aptos"/>
                <a:cs typeface="Aptos"/>
              </a:rPr>
              <a:t>Days 31-45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06A8D-DBDA-49B7-A6A5-F08526DF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957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Define source-quality standards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C0C5C-40A5-4CD3-86A9-B42616B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81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C1122-19F8-4E92-A28E-BEFFE4D3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4D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4D90"/>
                </a:solidFill>
                <a:latin typeface="Aptos"/>
                <a:ea typeface="Aptos"/>
                <a:cs typeface="Aptos"/>
              </a:rPr>
              <a:t>Days 46-60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B1A1C-9A72-43D4-8FC2-DC9E015C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957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Prototype cockpit and drilldowns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750863-A695-4BD8-B1AC-E329A84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F71C9-915C-49AE-8F07-0397EEAC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65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6500"/>
                </a:solidFill>
                <a:latin typeface="Aptos"/>
                <a:ea typeface="Aptos"/>
                <a:cs typeface="Aptos"/>
              </a:rPr>
              <a:t>Days 61-75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516C0-3CAE-4A0C-BFE7-A7CE166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957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Train staff on BI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532DCB-EAA0-42F4-AB0C-732C17E1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81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918B0-F8BD-4178-9374-F8E7B521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429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Days 76-90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BC33C5-DCF6-40B2-96C9-C808FAB9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6957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Prioritize production feeds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A15CF3-4CB3-4DB4-B95F-BA1D7D7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400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07ED33-431E-4FF6-A4C6-E826C8D2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E51391-6ACE-42D8-94A4-EAF980F1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Decision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E51309-47B0-481A-AF8A-33744A49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9115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Weekly owner check-ins, monthly source-quality review, and executive action queue for unresolved gaps.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92E3D2-E04A-4B73-8F63-71D9D921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76800"/>
            <a:ext cx="400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134036-86D7-44EF-AF53-37042C45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768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3C3FEE-C185-4B45-B383-563EB504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AI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847049-3B02-463B-B3B4-0E2AC30B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9115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AI can summarize and flag anomalies only after source lineage, owner, and reconciliation controls are known.</a:t>
            </a:r>
          </a:p>
        </p:txBody>
      </p:sp>
    </p:spTree>
    <p:extLst>
      <p:ext uri="{BB962C8B-B14F-4D97-AF65-F5344CB8AC3E}">
        <p14:creationId xmlns:p14="http://schemas.microsoft.com/office/powerpoint/2010/main" val="1752235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2026-06-15T00:15:10.8130000Z</dcterms:created>
  <dcterms:modified xsi:type="dcterms:W3CDTF">2026-06-15T00:15:10.8130000Z</dcterms:modified>
</coreProperties>
</file>